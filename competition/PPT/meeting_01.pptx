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3" r:id="rId7"/>
    <p:sldId id="257" r:id="rId8"/>
    <p:sldId id="272" r:id="rId9"/>
    <p:sldId id="264" r:id="rId10"/>
    <p:sldId id="268" r:id="rId11"/>
    <p:sldId id="269" r:id="rId12"/>
    <p:sldId id="267" r:id="rId13"/>
    <p:sldId id="265" r:id="rId14"/>
    <p:sldId id="270" r:id="rId15"/>
    <p:sldId id="271" r:id="rId16"/>
    <p:sldId id="2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3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>
              <a:lnSpc>
                <a:spcPct val="150000"/>
              </a:lnSpc>
            </a:pPr>
            <a:r>
              <a:rPr lang="zh-CN" altLang="zh-CN"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测绘学科创新创业智能大赛</a:t>
            </a:r>
            <a:br>
              <a:rPr lang="zh-CN" altLang="zh-CN"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</a:br>
            <a:r>
              <a:rPr lang="zh-CN" altLang="zh-CN"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启动会</a:t>
            </a:r>
            <a:endParaRPr lang="zh-CN" altLang="zh-CN"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5728970"/>
            <a:ext cx="9799320" cy="1033145"/>
          </a:xfrm>
        </p:spPr>
        <p:txBody>
          <a:bodyPr>
            <a:normAutofit lnSpcReduction="10000"/>
          </a:bodyPr>
          <a:p>
            <a:r>
              <a:rPr lang="zh-CN" altLang="en-US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Times New Roman" panose="02020603050405020304" charset="0"/>
              </a:rPr>
              <a:t>第一次会议</a:t>
            </a:r>
            <a:endParaRPr lang="zh-CN" altLang="en-US">
              <a:solidFill>
                <a:schemeClr val="tx1"/>
              </a:solidFill>
              <a:latin typeface="华文仿宋" panose="02010600040101010101" charset="-122"/>
              <a:ea typeface="华文仿宋" panose="02010600040101010101" charset="-122"/>
              <a:cs typeface="Times New Roman" panose="02020603050405020304" charset="0"/>
            </a:endParaRPr>
          </a:p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2026.4.19    </a:t>
            </a:r>
            <a:r>
              <a:rPr lang="zh-CN" altLang="en-US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Times New Roman" panose="02020603050405020304" charset="0"/>
              </a:rPr>
              <a:t>数信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333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633" y="4785360"/>
            <a:ext cx="1567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创新设计比赛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0645" y="5008880"/>
            <a:ext cx="25749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24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测绘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何健仁（队长）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23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地信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周子翔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23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地信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陈梓薇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25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地信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王</a:t>
            </a:r>
            <a:r>
              <a:rPr lang="en-US" altLang="zh-CN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    </a:t>
            </a:r>
            <a:r>
              <a:rPr lang="zh-CN" altLang="en-US">
                <a:latin typeface="Times New Roman" panose="02020603050405020304" charset="0"/>
                <a:ea typeface="华文仿宋" panose="02010600040101010101" charset="-122"/>
                <a:cs typeface="Times New Roman" panose="02020603050405020304" charset="0"/>
              </a:rPr>
              <a:t>睿</a:t>
            </a:r>
            <a:endParaRPr lang="zh-CN" altLang="en-US">
              <a:latin typeface="Times New Roman" panose="02020603050405020304" charset="0"/>
              <a:ea typeface="华文仿宋" panose="02010600040101010101" charset="-122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1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竞赛规程解读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325" y="727710"/>
            <a:ext cx="5917565" cy="30518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" y="4217035"/>
            <a:ext cx="10551160" cy="192405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628515" y="4879340"/>
            <a:ext cx="6456045" cy="70421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1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竞赛规程解读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735" y="116205"/>
            <a:ext cx="6348730" cy="5029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45" y="5379720"/>
            <a:ext cx="7661910" cy="13671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1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竞赛规程解读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6195" y="1028065"/>
            <a:ext cx="7971790" cy="5200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1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竞赛规程解读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" y="956945"/>
            <a:ext cx="5354955" cy="5274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095" y="381000"/>
            <a:ext cx="5055870" cy="6096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1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竞赛规程解读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1953895" y="-1364615"/>
            <a:ext cx="1888490" cy="6032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1064260" y="1348105"/>
            <a:ext cx="3974465" cy="62198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7538085" y="280035"/>
            <a:ext cx="3165475" cy="614235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9370" y="3516630"/>
            <a:ext cx="6024880" cy="70421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236970" y="4220845"/>
            <a:ext cx="5896610" cy="3587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7780" y="1975485"/>
            <a:ext cx="5896610" cy="39941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选题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4850" y="1796415"/>
            <a:ext cx="8242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基于</a:t>
            </a:r>
            <a:r>
              <a:rPr lang="zh-CN" altLang="en-US" sz="36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移动激光雷达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的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树木参数自动提取与碳储量估算系统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选题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4850" y="707390"/>
            <a:ext cx="8242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基于</a:t>
            </a:r>
            <a:r>
              <a:rPr lang="zh-CN" altLang="en-US" sz="3600">
                <a:solidFill>
                  <a:srgbClr val="C00000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移动激光雷达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的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树木参数自动提取与碳储量估算系统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2563495"/>
            <a:ext cx="6165215" cy="17316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58695" y="4479925"/>
            <a:ext cx="893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LiDAR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235" y="2529840"/>
            <a:ext cx="4743450" cy="23812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702550" y="5124450"/>
            <a:ext cx="14128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大草坪的树</a:t>
            </a:r>
            <a:endParaRPr lang="zh-CN" altLang="en-US"/>
          </a:p>
          <a:p>
            <a:pPr algn="ctr"/>
            <a:r>
              <a:rPr lang="zh-CN" altLang="en-US"/>
              <a:t>（香樟）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407650" y="5065395"/>
            <a:ext cx="1249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教六的树</a:t>
            </a:r>
            <a:endParaRPr lang="zh-CN" altLang="en-US"/>
          </a:p>
          <a:p>
            <a:pPr algn="ctr"/>
            <a:r>
              <a:rPr lang="zh-CN" altLang="en-US"/>
              <a:t>（玉兰）</a:t>
            </a: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6495415" y="3368675"/>
            <a:ext cx="711200" cy="33337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选题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4850" y="707390"/>
            <a:ext cx="8242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基于</a:t>
            </a:r>
            <a:r>
              <a:rPr lang="zh-CN" altLang="en-US" sz="36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移动激光雷达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的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rgbClr val="C00000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树木参数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自动提取与碳储量估算系统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8565" y="2529840"/>
            <a:ext cx="5893435" cy="4194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80910" y="6078855"/>
            <a:ext cx="14128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大草坪的树</a:t>
            </a:r>
            <a:endParaRPr lang="zh-CN" altLang="en-US"/>
          </a:p>
          <a:p>
            <a:pPr algn="ctr"/>
            <a:r>
              <a:rPr lang="zh-CN" altLang="en-US"/>
              <a:t>（香樟）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18440" y="2806700"/>
            <a:ext cx="583374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/>
              <a:t>常研究的树木参数</a:t>
            </a:r>
            <a:endParaRPr lang="zh-CN" altLang="en-US" sz="24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400"/>
              <a:t>Diameter at Breast Height, </a:t>
            </a:r>
            <a:r>
              <a:rPr lang="en-US" altLang="zh-CN" sz="2400" b="1"/>
              <a:t>DBH</a:t>
            </a:r>
            <a:endParaRPr lang="en-US" altLang="zh-CN" sz="24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400"/>
              <a:t>Tree Height, </a:t>
            </a:r>
            <a:r>
              <a:rPr lang="en-US" altLang="zh-CN" sz="2400" b="1"/>
              <a:t>TH</a:t>
            </a:r>
            <a:endParaRPr lang="en-US" altLang="zh-CN" sz="24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树干空间坐标</a:t>
            </a:r>
            <a:endParaRPr lang="zh-CN" altLang="en-US" sz="24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冠幅相关参数</a:t>
            </a:r>
            <a:endParaRPr lang="zh-CN" altLang="en-US" sz="24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/>
              <a:t>材积</a:t>
            </a:r>
            <a:endParaRPr lang="zh-CN" altLang="en-US" sz="24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400"/>
              <a:t>...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en-US" altLang="zh-CN" sz="2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选题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4850" y="707390"/>
            <a:ext cx="8242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基于</a:t>
            </a:r>
            <a:r>
              <a:rPr lang="zh-CN" altLang="en-US" sz="36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移动激光雷达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的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树木参数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自动提取与</a:t>
            </a:r>
            <a:r>
              <a:rPr lang="zh-CN" altLang="en-US" sz="3600">
                <a:solidFill>
                  <a:srgbClr val="C00000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碳储量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估算系统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345" y="2781935"/>
            <a:ext cx="11751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碳储量：</a:t>
            </a:r>
            <a:r>
              <a:rPr lang="zh-CN" altLang="en-US"/>
              <a:t>森林生态系统中植物体通过光合作用固定、并储存在生物体内的有机碳总质量。单木地上碳储量简称</a:t>
            </a:r>
            <a:r>
              <a:rPr lang="en-US" altLang="zh-CN"/>
              <a:t>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AGC</a:t>
            </a:r>
            <a:endParaRPr lang="en-US" altLang="zh-CN" sz="20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82440" y="4737735"/>
            <a:ext cx="3308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i="1">
                <a:latin typeface="Times New Roman" panose="02020603050405020304" charset="0"/>
                <a:cs typeface="Times New Roman" panose="02020603050405020304" charset="0"/>
              </a:rPr>
              <a:t>AGB</a:t>
            </a: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 =</a:t>
            </a:r>
            <a:r>
              <a:rPr lang="en-US" altLang="zh-CN" sz="3200" i="1">
                <a:latin typeface="Times New Roman" panose="02020603050405020304" charset="0"/>
                <a:cs typeface="Times New Roman" panose="02020603050405020304" charset="0"/>
              </a:rPr>
              <a:t> a</a:t>
            </a: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32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3200" i="1">
                <a:latin typeface="Times New Roman" panose="02020603050405020304" charset="0"/>
                <a:cs typeface="Times New Roman" panose="02020603050405020304" charset="0"/>
              </a:rPr>
              <a:t>DBH</a:t>
            </a:r>
            <a:r>
              <a:rPr lang="en-US" altLang="zh-CN" sz="3200" i="1" baseline="30000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3200" i="1" baseline="30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0" y="3429000"/>
            <a:ext cx="3589020" cy="3200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0345" y="3296285"/>
            <a:ext cx="5012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单木地上生物量简称</a:t>
            </a:r>
            <a:r>
              <a:rPr lang="en-US" altLang="zh-CN"/>
              <a:t> </a:t>
            </a:r>
            <a:r>
              <a:rPr lang="en-US" altLang="zh-CN" sz="2000" i="1">
                <a:latin typeface="Times New Roman" panose="02020603050405020304" charset="0"/>
                <a:cs typeface="Times New Roman" panose="02020603050405020304" charset="0"/>
              </a:rPr>
              <a:t>AGB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，单位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kg/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株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62710" y="5324475"/>
            <a:ext cx="2124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异速生长计算公式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282440" y="5753100"/>
            <a:ext cx="3308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i="1">
                <a:latin typeface="Times New Roman" panose="02020603050405020304" charset="0"/>
                <a:cs typeface="Times New Roman" panose="02020603050405020304" charset="0"/>
              </a:rPr>
              <a:t>AGC</a:t>
            </a:r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 =</a:t>
            </a:r>
            <a:r>
              <a:rPr lang="en-US" altLang="zh-CN" sz="3200" i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200" i="1">
                <a:latin typeface="Times New Roman" panose="02020603050405020304" charset="0"/>
                <a:cs typeface="Times New Roman" panose="02020603050405020304" charset="0"/>
              </a:rPr>
              <a:t>AGB </a:t>
            </a:r>
            <a:r>
              <a:rPr lang="zh-CN" altLang="en-US" sz="32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3200" i="1">
                <a:latin typeface="Times New Roman" panose="02020603050405020304" charset="0"/>
                <a:cs typeface="Times New Roman" panose="02020603050405020304" charset="0"/>
              </a:rPr>
              <a:t> CF</a:t>
            </a:r>
            <a:endParaRPr lang="en-US" altLang="zh-CN" sz="3200" i="1" baseline="30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32880" y="6336665"/>
            <a:ext cx="1330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</a:rPr>
              <a:t>碳含量系数</a:t>
            </a:r>
            <a:endParaRPr lang="zh-CN" altLang="en-US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选题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77745" y="2074545"/>
            <a:ext cx="3623310" cy="2391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本系统有什么功能？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MLS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点云数据预处理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u="sng">
                <a:latin typeface="Times New Roman" panose="02020603050405020304" charset="0"/>
                <a:cs typeface="Times New Roman" panose="02020603050405020304" charset="0"/>
              </a:rPr>
              <a:t>单木分割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与参数提取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估算单木的碳储量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写出一个系统，实现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端到端</a:t>
            </a:r>
            <a:endParaRPr lang="zh-CN" altLang="en-US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74850" y="0"/>
            <a:ext cx="8242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基于</a:t>
            </a:r>
            <a:r>
              <a:rPr lang="zh-CN" altLang="en-US" sz="36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移动激光雷达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的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树木参数</a:t>
            </a:r>
            <a:r>
              <a:rPr lang="zh-CN" altLang="en-US" sz="3600">
                <a:latin typeface="方正小标宋简体" panose="02000000000000000000" charset="-122"/>
                <a:ea typeface="方正小标宋简体" panose="02000000000000000000" charset="-122"/>
              </a:rPr>
              <a:t>自动提取与碳储量估算系统</a:t>
            </a:r>
            <a:endParaRPr lang="zh-CN" altLang="en-US" sz="3600"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8440" y="4888230"/>
            <a:ext cx="11395710" cy="1280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一句话总结要做的事情：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开发基于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MLS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的系统，实现点云预处理、单木参数提取、碳储量估算与不确定性量化，通过软件界面输出碳储量报告，适配中小尺度林地碳储量核算。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97495" y="2074545"/>
            <a:ext cx="3660140" cy="2044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本系统有什么作用？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森林资源清查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城市绿化碳储量核算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衔接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“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双碳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”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目标，辅助决策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3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工具介绍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8910" y="1085215"/>
            <a:ext cx="4516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i="1">
                <a:latin typeface="Times New Roman" panose="02020603050405020304" charset="0"/>
                <a:cs typeface="Times New Roman" panose="02020603050405020304" charset="0"/>
              </a:rPr>
              <a:t>Web of Science </a:t>
            </a:r>
            <a:r>
              <a:rPr lang="zh-CN" altLang="en-US" sz="3200">
                <a:latin typeface="Times New Roman" panose="02020603050405020304" charset="0"/>
                <a:cs typeface="Times New Roman" panose="02020603050405020304" charset="0"/>
              </a:rPr>
              <a:t>检索文献</a:t>
            </a:r>
            <a:endParaRPr lang="zh-CN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13935" y="2053590"/>
            <a:ext cx="2960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现场演示</a:t>
            </a:r>
            <a:r>
              <a:rPr lang="en-US" altLang="zh-CN" sz="4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...</a:t>
            </a:r>
            <a:endParaRPr lang="en-US" altLang="zh-CN" sz="4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3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工具介绍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2650" y="1147445"/>
            <a:ext cx="3021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i="1">
                <a:latin typeface="Times New Roman" panose="02020603050405020304" charset="0"/>
                <a:cs typeface="Times New Roman" panose="02020603050405020304" charset="0"/>
              </a:rPr>
              <a:t>Zotero 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管理文献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50790" y="2053590"/>
            <a:ext cx="2960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现场演示</a:t>
            </a:r>
            <a:r>
              <a:rPr lang="en-US" altLang="zh-CN" sz="4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...</a:t>
            </a:r>
            <a:endParaRPr lang="en-US" altLang="zh-CN" sz="4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3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工具介绍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19065" y="1109980"/>
            <a:ext cx="23393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i="1">
                <a:latin typeface="Times New Roman" panose="02020603050405020304" charset="0"/>
                <a:cs typeface="Times New Roman" panose="02020603050405020304" charset="0"/>
              </a:rPr>
              <a:t>Vibe Coding</a:t>
            </a:r>
            <a:endParaRPr lang="en-US" altLang="zh-CN" sz="28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50790" y="2053590"/>
            <a:ext cx="2960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现场演示</a:t>
            </a:r>
            <a:r>
              <a:rPr lang="en-US" altLang="zh-CN" sz="4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...</a:t>
            </a:r>
            <a:endParaRPr lang="en-US" altLang="zh-CN" sz="4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8440" y="11620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4 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任务安排</a:t>
            </a:r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&amp;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时间线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77240" y="3183890"/>
            <a:ext cx="1038415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4.19 </a:t>
            </a:r>
            <a:r>
              <a:rPr lang="zh-CN" altLang="en-US"/>
              <a:t>启动会，熟悉竞赛与选题，分派任务，读文献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4.26 </a:t>
            </a:r>
            <a:r>
              <a:rPr lang="zh-CN" altLang="en-US"/>
              <a:t>选题讨论第一次会议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5.06 </a:t>
            </a:r>
            <a:r>
              <a:rPr lang="zh-CN" altLang="en-US"/>
              <a:t>选题讨论第二次会议，确定最终选题与技术路线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5.10 </a:t>
            </a:r>
            <a:r>
              <a:rPr lang="zh-CN" altLang="en-US"/>
              <a:t>周子翔，陈梓薇开始做模型核心内容；何健仁，王睿进行数据采集与预处理（包括设计实验数据采集表）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5.25 </a:t>
            </a:r>
            <a:r>
              <a:rPr lang="zh-CN" altLang="en-US"/>
              <a:t>周子翔正式测试模型效果并进行修正，其他三人进行消融实验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/>
              <a:t>6.10 </a:t>
            </a:r>
            <a:r>
              <a:rPr lang="zh-CN" altLang="en-US"/>
              <a:t>周子翔开始开发软件（可以单干，若需帮忙到时再协调），其他三人先写技术文档和</a:t>
            </a:r>
            <a:r>
              <a:rPr lang="en-US" altLang="zh-CN"/>
              <a:t>PPT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18440" y="805815"/>
            <a:ext cx="11807190" cy="2286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本周任务：使用</a:t>
            </a:r>
            <a:r>
              <a:rPr lang="en-US" altLang="zh-CN"/>
              <a:t>Web of Science</a:t>
            </a:r>
            <a:r>
              <a:rPr lang="zh-CN" altLang="en-US"/>
              <a:t>读</a:t>
            </a:r>
            <a:r>
              <a:rPr lang="en-US" altLang="zh-CN"/>
              <a:t>SCI</a:t>
            </a:r>
            <a:r>
              <a:rPr lang="zh-CN" altLang="en-US"/>
              <a:t>，下周日进行汇报（带</a:t>
            </a:r>
            <a:r>
              <a:rPr lang="en-US" altLang="zh-CN"/>
              <a:t>PPT</a:t>
            </a:r>
            <a:r>
              <a:rPr lang="zh-CN" altLang="en-US"/>
              <a:t>）。领域安排如下：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陈梓薇：介绍一下目前主流的树木分割，木叶分割算法，并推荐一种或几种适配我们工作的算法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何健仁：介绍在树木参数提取领域中，目前比较重要的参数有哪些，并提出我们的工作应该对哪些参数进行研究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王</a:t>
            </a:r>
            <a:r>
              <a:rPr lang="zh-CN" altLang="en-US">
                <a:noFill/>
              </a:rPr>
              <a:t>啊</a:t>
            </a:r>
            <a:r>
              <a:rPr lang="zh-CN" altLang="en-US"/>
              <a:t>睿：介绍碳储量估算领域的主流先进算法，并筛选适配本研究的算法方案。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8440" y="6369050"/>
            <a:ext cx="11388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若研究顺利，本项目拟投稿一篇</a:t>
            </a:r>
            <a:r>
              <a:rPr lang="en-US" altLang="zh-CN"/>
              <a:t>SCI</a:t>
            </a:r>
            <a:r>
              <a:rPr lang="zh-CN" altLang="en-US"/>
              <a:t>论文。</a:t>
            </a:r>
            <a:r>
              <a:rPr lang="en-US" altLang="zh-CN"/>
              <a:t>Journal of Forestry Research </a:t>
            </a:r>
            <a:r>
              <a:rPr lang="zh-CN" altLang="en-US"/>
              <a:t>（</a:t>
            </a:r>
            <a:r>
              <a:rPr lang="en-US" altLang="zh-CN"/>
              <a:t>SCI, 2</a:t>
            </a:r>
            <a:r>
              <a:rPr lang="zh-CN" altLang="en-US"/>
              <a:t>区）非</a:t>
            </a:r>
            <a:r>
              <a:rPr lang="en-US" altLang="zh-CN"/>
              <a:t>OA</a:t>
            </a:r>
            <a:r>
              <a:rPr lang="zh-CN" altLang="en-US"/>
              <a:t>，无需版面费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</Words>
  <Application>WPS 演示</Application>
  <PresentationFormat>宽屏</PresentationFormat>
  <Paragraphs>127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方正小标宋简体</vt:lpstr>
      <vt:lpstr>华文仿宋</vt:lpstr>
      <vt:lpstr>Times New Roman</vt:lpstr>
      <vt:lpstr>微软雅黑</vt:lpstr>
      <vt:lpstr>Arial Unicode MS</vt:lpstr>
      <vt:lpstr>Calibri</vt:lpstr>
      <vt:lpstr>WPS</vt:lpstr>
      <vt:lpstr>测绘学科创新创业智能大赛 启动会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周子翔</cp:lastModifiedBy>
  <cp:revision>271</cp:revision>
  <dcterms:created xsi:type="dcterms:W3CDTF">2019-06-19T02:08:00Z</dcterms:created>
  <dcterms:modified xsi:type="dcterms:W3CDTF">2026-04-19T07:12:38Z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020C1BD160974962A59B8A037B24533B_11</vt:lpwstr>
  </property>
</Properties>
</file>