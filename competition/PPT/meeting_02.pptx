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80" r:id="rId5"/>
    <p:sldId id="277" r:id="rId6"/>
    <p:sldId id="275" r:id="rId7"/>
    <p:sldId id="279" r:id="rId8"/>
    <p:sldId id="273" r:id="rId9"/>
    <p:sldId id="274" r:id="rId10"/>
    <p:sldId id="28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>
              <a:lnSpc>
                <a:spcPct val="150000"/>
              </a:lnSpc>
            </a:pPr>
            <a:r>
              <a:rPr lang="zh-CN" altLang="zh-CN"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测绘学科创新创业智能大赛</a:t>
            </a:r>
            <a:br>
              <a:rPr lang="zh-CN" altLang="zh-CN"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</a:br>
            <a:r>
              <a:rPr lang="zh-CN" altLang="zh-CN"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第二次会议</a:t>
            </a:r>
            <a:endParaRPr lang="zh-CN" altLang="zh-CN"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6334760"/>
            <a:ext cx="9799320" cy="427355"/>
          </a:xfrm>
        </p:spPr>
        <p:txBody>
          <a:bodyPr>
            <a:normAutofit fontScale="90000" lnSpcReduction="20000"/>
          </a:bodyPr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2026.4.26    </a:t>
            </a:r>
            <a:r>
              <a:rPr lang="zh-CN" altLang="en-US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Times New Roman" panose="02020603050405020304" charset="0"/>
              </a:rPr>
              <a:t>数信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333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633" y="5413375"/>
            <a:ext cx="156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创新设计比赛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0645" y="5008880"/>
            <a:ext cx="25749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24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测绘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何健仁（队长）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23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地信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周子翔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23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地信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陈梓薇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25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地信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王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睿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79855" y="3723640"/>
            <a:ext cx="90855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sym typeface="+mn-ea"/>
              </a:rPr>
              <a:t>基于激光雷达点云的单木结构参数提取与碳汇计量系统（暂时）</a:t>
            </a:r>
            <a:endParaRPr lang="en-US" altLang="zh-CN" sz="2400">
              <a:latin typeface="华文仿宋" panose="02010600040101010101" charset="-122"/>
              <a:ea typeface="华文仿宋" panose="02010600040101010101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相关工作</a:t>
            </a:r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 ·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论文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" y="1665605"/>
            <a:ext cx="10496550" cy="4133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相关工作</a:t>
            </a:r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 ·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论文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425" y="755650"/>
            <a:ext cx="10439400" cy="4591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75" y="5622290"/>
            <a:ext cx="6877050" cy="990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80910" y="3467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2"/>
                </a:solidFill>
              </a:rPr>
              <a:t>2021</a:t>
            </a:r>
            <a:r>
              <a:rPr lang="zh-CN" altLang="en-US" sz="3200">
                <a:solidFill>
                  <a:schemeClr val="accent2"/>
                </a:solidFill>
              </a:rPr>
              <a:t>年的文章</a:t>
            </a:r>
            <a:endParaRPr lang="zh-CN" altLang="en-US" sz="3200">
              <a:solidFill>
                <a:schemeClr val="accent2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相关工作</a:t>
            </a:r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 ·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论文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" y="1254760"/>
            <a:ext cx="10995660" cy="52476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 rot="21060000">
            <a:off x="742950" y="3513455"/>
            <a:ext cx="3500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中山大学的一个课题组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相关工作</a:t>
            </a:r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 ·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软件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240" y="1184910"/>
            <a:ext cx="9734550" cy="3200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" y="638175"/>
            <a:ext cx="6199505" cy="62661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620" y="3029585"/>
            <a:ext cx="3202940" cy="3828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相关工作</a:t>
            </a:r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 ·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总结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9855" y="1494155"/>
            <a:ext cx="90855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sym typeface="+mn-ea"/>
              </a:rPr>
              <a:t>基于激光雷达点云的单木结构参数提取与碳汇计量系统（暂定）</a:t>
            </a:r>
            <a:endParaRPr lang="en-US" altLang="zh-CN" sz="2400">
              <a:latin typeface="华文仿宋" panose="02010600040101010101" charset="-122"/>
              <a:ea typeface="华文仿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79855" y="2487295"/>
            <a:ext cx="9085580" cy="812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很难做得出彩，需要更进一步的创新，解决传统方法的局限性。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4834890" y="6131560"/>
            <a:ext cx="2019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需要爆点！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1379855" y="3361690"/>
            <a:ext cx="4064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在单木分割方面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在树木参数提取方面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在碳储量估计方面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75" y="4761865"/>
            <a:ext cx="9906000" cy="1028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2830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我们的工作流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8440" y="918845"/>
            <a:ext cx="3241675" cy="5219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数据获取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218440" y="1592580"/>
            <a:ext cx="1628775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2000"/>
              <a:t>LiDAR</a:t>
            </a:r>
            <a:r>
              <a:rPr lang="zh-CN" altLang="en-US" sz="2000"/>
              <a:t>点云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2032635" y="1592580"/>
            <a:ext cx="1427480" cy="39878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solidFill>
                  <a:schemeClr val="bg1">
                    <a:lumMod val="75000"/>
                  </a:schemeClr>
                </a:solidFill>
              </a:rPr>
              <a:t>UAV</a:t>
            </a:r>
            <a:r>
              <a:rPr lang="zh-CN" altLang="en-US" sz="2000">
                <a:solidFill>
                  <a:schemeClr val="bg1">
                    <a:lumMod val="75000"/>
                  </a:schemeClr>
                </a:solidFill>
              </a:rPr>
              <a:t>影像</a:t>
            </a:r>
            <a:endParaRPr lang="zh-CN" altLang="en-US" sz="20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110" y="748665"/>
            <a:ext cx="3503295" cy="216916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622540" y="4528185"/>
            <a:ext cx="4088130" cy="199898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31125" y="4601210"/>
            <a:ext cx="3848735" cy="5219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输出结果</a:t>
            </a:r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7731125" y="5266690"/>
            <a:ext cx="1842770" cy="44132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2400">
                <a:solidFill>
                  <a:schemeClr val="tx1"/>
                </a:solidFill>
              </a:rPr>
              <a:t>单木参数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37090" y="5266690"/>
            <a:ext cx="1842770" cy="44132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2400">
                <a:solidFill>
                  <a:schemeClr val="tx1"/>
                </a:solidFill>
              </a:rPr>
              <a:t>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8110" y="3201670"/>
            <a:ext cx="3503295" cy="33254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8440" y="3326765"/>
            <a:ext cx="3241675" cy="5219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单木分割</a:t>
            </a:r>
            <a:endParaRPr lang="zh-CN" altLang="en-US" sz="2800" b="1"/>
          </a:p>
        </p:txBody>
      </p:sp>
      <p:sp>
        <p:nvSpPr>
          <p:cNvPr id="13" name="矩形 12"/>
          <p:cNvSpPr/>
          <p:nvPr/>
        </p:nvSpPr>
        <p:spPr>
          <a:xfrm>
            <a:off x="4227830" y="748665"/>
            <a:ext cx="3503295" cy="33254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328160" y="873760"/>
            <a:ext cx="3241675" cy="5219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参数提取</a:t>
            </a:r>
            <a:endParaRPr lang="zh-CN" altLang="en-US" sz="2800" b="1"/>
          </a:p>
        </p:txBody>
      </p:sp>
      <p:sp>
        <p:nvSpPr>
          <p:cNvPr id="15" name="文本框 14"/>
          <p:cNvSpPr txBox="1"/>
          <p:nvPr/>
        </p:nvSpPr>
        <p:spPr>
          <a:xfrm>
            <a:off x="1024890" y="5563870"/>
            <a:ext cx="1628775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sz="2000"/>
              <a:t>深度学习</a:t>
            </a:r>
            <a:endParaRPr lang="zh-CN" sz="2000"/>
          </a:p>
        </p:txBody>
      </p:sp>
      <p:sp>
        <p:nvSpPr>
          <p:cNvPr id="16" name="矩形 15"/>
          <p:cNvSpPr/>
          <p:nvPr/>
        </p:nvSpPr>
        <p:spPr>
          <a:xfrm>
            <a:off x="8124825" y="748665"/>
            <a:ext cx="3503295" cy="332549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25155" y="873760"/>
            <a:ext cx="3241675" cy="5219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碳储量计算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/>
        </p:nvSpPr>
        <p:spPr>
          <a:xfrm>
            <a:off x="9062085" y="2519045"/>
            <a:ext cx="1628775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sz="2000"/>
              <a:t>？</a:t>
            </a:r>
            <a:endParaRPr lang="zh-CN" sz="2000"/>
          </a:p>
        </p:txBody>
      </p:sp>
      <p:sp>
        <p:nvSpPr>
          <p:cNvPr id="19" name="下箭头 18"/>
          <p:cNvSpPr/>
          <p:nvPr/>
        </p:nvSpPr>
        <p:spPr>
          <a:xfrm>
            <a:off x="1543050" y="2680335"/>
            <a:ext cx="304165" cy="5924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 rot="14460000">
            <a:off x="3802380" y="3591560"/>
            <a:ext cx="304165" cy="5924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 rot="16200000">
            <a:off x="7750810" y="2422525"/>
            <a:ext cx="304165" cy="5924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9503410" y="3935730"/>
            <a:ext cx="304165" cy="5924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947795" y="4601210"/>
            <a:ext cx="3467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解决刚刚提出的三个层次的问题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069080" y="5195570"/>
            <a:ext cx="3467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善用</a:t>
            </a:r>
            <a:r>
              <a:rPr lang="en-US" altLang="zh-CN" sz="2800" b="1"/>
              <a:t>AI</a:t>
            </a:r>
            <a:endParaRPr lang="en-US" altLang="zh-CN" sz="2800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3" grpId="1"/>
      <p:bldP spid="2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讨论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8440" y="5473700"/>
            <a:ext cx="11409680" cy="1259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+mn-ea"/>
                <a:cs typeface="+mn-ea"/>
              </a:rPr>
              <a:t>内置专家</a:t>
            </a:r>
            <a:r>
              <a:rPr lang="en-US" altLang="zh-CN">
                <a:latin typeface="+mn-ea"/>
                <a:cs typeface="+mn-ea"/>
              </a:rPr>
              <a:t>LLM </a:t>
            </a:r>
            <a:r>
              <a:rPr lang="zh-CN" altLang="en-US">
                <a:latin typeface="+mn-ea"/>
                <a:cs typeface="+mn-ea"/>
              </a:rPr>
              <a:t>？</a:t>
            </a:r>
            <a:endParaRPr lang="en-US" altLang="zh-CN">
              <a:latin typeface="+mn-ea"/>
              <a:cs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latin typeface="+mn-ea"/>
                <a:cs typeface="+mn-ea"/>
              </a:rPr>
              <a:t>训练一个林业专家，内嵌到软件当中，实现：（</a:t>
            </a:r>
            <a:r>
              <a:rPr lang="en-US" altLang="zh-CN">
                <a:latin typeface="+mn-ea"/>
                <a:cs typeface="+mn-ea"/>
              </a:rPr>
              <a:t>1</a:t>
            </a:r>
            <a:r>
              <a:rPr lang="zh-CN" altLang="en-US">
                <a:latin typeface="+mn-ea"/>
                <a:cs typeface="+mn-ea"/>
              </a:rPr>
              <a:t>）对不懂林业的用户更加友好；（</a:t>
            </a:r>
            <a:r>
              <a:rPr lang="en-US" altLang="zh-CN">
                <a:latin typeface="+mn-ea"/>
                <a:cs typeface="+mn-ea"/>
              </a:rPr>
              <a:t>2</a:t>
            </a:r>
            <a:r>
              <a:rPr lang="zh-CN" altLang="en-US">
                <a:latin typeface="+mn-ea"/>
                <a:cs typeface="+mn-ea"/>
              </a:rPr>
              <a:t>）个性化输出报告等</a:t>
            </a:r>
            <a:r>
              <a:rPr lang="en-US" altLang="zh-CN">
                <a:latin typeface="+mn-ea"/>
                <a:cs typeface="+mn-ea"/>
              </a:rPr>
              <a:t>...</a:t>
            </a:r>
            <a:endParaRPr lang="en-US" altLang="zh-CN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4090" y="2176145"/>
            <a:ext cx="295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一台带有</a:t>
            </a:r>
            <a:r>
              <a:rPr lang="en-US" altLang="zh-CN"/>
              <a:t>RTK</a:t>
            </a:r>
            <a:r>
              <a:rPr lang="zh-CN" altLang="en-US"/>
              <a:t>的大疆无人机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70985" y="2176145"/>
            <a:ext cx="295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/>
              <a:t>一台手持</a:t>
            </a:r>
            <a:r>
              <a:rPr lang="en-US" altLang="zh-CN"/>
              <a:t>LiDAR</a:t>
            </a:r>
            <a:r>
              <a:rPr lang="zh-CN" altLang="en-US"/>
              <a:t>扫描仪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26885" y="2176145"/>
            <a:ext cx="295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4070</a:t>
            </a:r>
            <a:r>
              <a:rPr lang="zh-CN" altLang="en-US"/>
              <a:t>，</a:t>
            </a:r>
            <a:r>
              <a:rPr lang="en-US" altLang="zh-CN"/>
              <a:t>5060</a:t>
            </a:r>
            <a:r>
              <a:rPr lang="zh-CN" altLang="en-US"/>
              <a:t>显卡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631825" y="1073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我们能够借到的设备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05280" y="2902585"/>
            <a:ext cx="135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RTK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345305" y="28721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低精度的地面</a:t>
            </a:r>
            <a:r>
              <a:rPr lang="en-US" altLang="zh-CN"/>
              <a:t>LiDAR</a:t>
            </a:r>
            <a:r>
              <a:rPr lang="zh-CN" altLang="en-US"/>
              <a:t>扫描仪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731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i="1">
                <a:latin typeface="Times New Roman" panose="02020603050405020304" charset="0"/>
                <a:cs typeface="Times New Roman" panose="02020603050405020304" charset="0"/>
              </a:rPr>
              <a:t>4 </a:t>
            </a:r>
            <a:r>
              <a:rPr lang="zh-CN" altLang="en-US" sz="2800" b="1" i="1">
                <a:latin typeface="Times New Roman" panose="02020603050405020304" charset="0"/>
                <a:cs typeface="Times New Roman" panose="02020603050405020304" charset="0"/>
              </a:rPr>
              <a:t>任务</a:t>
            </a:r>
            <a:endParaRPr lang="zh-CN" altLang="en-US" sz="2800" b="1" i="1"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8440" y="821055"/>
            <a:ext cx="11240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下次讨论会，各自给出自己心目中</a:t>
            </a:r>
            <a:r>
              <a:rPr lang="zh-CN" altLang="en-US" b="1"/>
              <a:t>有价值的完整的工作流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218440" y="1450340"/>
            <a:ext cx="2300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主要回答下面的问题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4655" y="231711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需要什么设备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研究区域，研究对象是哪里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流程分几步，每一步做什么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得到什么结果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51685" y="498348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大胆去想，去做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WPS 演示</Application>
  <PresentationFormat>宽屏</PresentationFormat>
  <Paragraphs>95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方正小标宋简体</vt:lpstr>
      <vt:lpstr>Times New Roman</vt:lpstr>
      <vt:lpstr>华文仿宋</vt:lpstr>
      <vt:lpstr>仿宋</vt:lpstr>
      <vt:lpstr>微软雅黑</vt:lpstr>
      <vt:lpstr>Arial Unicode MS</vt:lpstr>
      <vt:lpstr>Calibri</vt:lpstr>
      <vt:lpstr>WPS</vt:lpstr>
      <vt:lpstr>测绘学科创新创业智能大赛 第二次会议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周子翔</cp:lastModifiedBy>
  <cp:revision>343</cp:revision>
  <dcterms:created xsi:type="dcterms:W3CDTF">2019-06-19T02:08:00Z</dcterms:created>
  <dcterms:modified xsi:type="dcterms:W3CDTF">2026-04-26T10:52:38Z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020C1BD160974962A59B8A037B24533B_11</vt:lpwstr>
  </property>
</Properties>
</file>